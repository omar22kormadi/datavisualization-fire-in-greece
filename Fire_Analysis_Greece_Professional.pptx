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 will present an analysis of forest fire detection data from Greece spanning 2015 to 2025. This study examines 36,004 fire detections recorded by satellite systems, analyzing temporal patterns, geographic distribution, and meteorological correlations.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focuses on understanding fire patterns across Greece. We use satellite data which is ideal because it provides continuous monitoring over large geographic areas without ground infrastructure. The dataset includes all recorded fire detections with associated thermal, temporal, and meteorological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shown in the time series, fire detections follow clear seasonal patterns with dramatic peaks during summer months, particularly in 2023 which was an exceptional year. The baseline activity outside fire season remains relatively low, typically under 50 detections per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boxplot shows brightness is concentrated in a tight distribution between 310 and 345 Kelvin, which is typical for active fires. The distribution confirms that most detections represent genuine fire activity. The few outliers at lower temperatures may indicate false positives or marginal detections.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histogram reveals that while most fires cluster in the 310 to 340 Kelvin range, a secondary population exists at higher temperatures around 360 Kelvin. This bimodality may reflect differences in fire type or intensity. The distribution is suitable for statistical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confidence distribution is not unusual for satellite systems. The algorithm prioritizes sensitivity, detecting potential fires even with moderate certainty. For operational use, these low-confidence detections should be validated against ground reports or auxiliary data before emergency response.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scatter plot demonstrates the relationship between maximum temperature and fire brightness. While there is considerable scatter, a general trend shows fires occurring across a wide temperature range, confirming that temperature alone does not determine fire presence but rather creates conditions favorable for fire spread.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spatial map reveals clustering in central-eastern Greece where we see consistent high-brightness detections. These regions combine factors that promote fire: dense vegetation, warm and dry summers, and significant human population providing ignition 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mean brightness plot shows pronounced seasonal variation with regular oscillations corresponding to the calendar year. Notice the elevated baseline in recent years, particularly 2023, suggesting either increasing fire frequency or detection sensitivity. The consistency of the seasonal pattern indicates robust, predictable behavior suitable for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matrix indicates that no single meteorological variable strongly predicts fire occurrence. This suggests that fire detection requires consideration of multiple environmental factors. The moderate positive correlation between temperature variables confirms the strong seasonal component of fire activity.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summary statistics confirm the integrity of our dataset with complete records across all variables. The relatively low standard deviations in brightness compared to Fire Radiative Power indicate that while fire location is consistently detected, fire intensity varies considerably, reflecting the diversity of fire types and sizes.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analysis demonstrates that forest fires in Greece follow predictable seasonal and geographic patterns. The strong temporal signature allows for targeted prevention efforts during high-risk periods. The geographic concentration enables focused resource allocation to vulnerable regions.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concludes the presentation. The data clearly shows that while forest fires pose a persistent threat in Greece, their patterns are sufficiently regular to support evidence-based prevention and response strategies. I am happy to discuss any aspects of the analysis in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defRPr sz="5400" b="1">
                <a:solidFill>
                  <a:srgbClr val="FFFFFF"/>
                </a:solidFill>
              </a:defRPr>
            </a:pPr>
            <a:r>
              <a:t>Analysis of Forest Fire Detection</a:t>
            </a:r>
          </a:p>
        </p:txBody>
      </p:sp>
      <p:sp>
        <p:nvSpPr>
          <p:cNvPr id="3" name="TextBox 2"/>
          <p:cNvSpPr txBox="1"/>
          <p:nvPr/>
        </p:nvSpPr>
        <p:spPr>
          <a:xfrm>
            <a:off x="457200" y="3657600"/>
            <a:ext cx="8229600" cy="1828800"/>
          </a:xfrm>
          <a:prstGeom prst="rect">
            <a:avLst/>
          </a:prstGeom>
          <a:noFill/>
        </p:spPr>
        <p:txBody>
          <a:bodyPr wrap="square">
            <a:spAutoFit/>
          </a:bodyPr>
          <a:lstStyle/>
          <a:p>
            <a:pPr>
              <a:defRPr sz="2800">
                <a:solidFill>
                  <a:srgbClr val="4F81BD"/>
                </a:solidFill>
              </a:defRPr>
            </a:pPr>
            <a:r>
              <a:t>Satellite Data from Greece (2015-2025)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Project Overview</a:t>
            </a:r>
          </a:p>
        </p:txBody>
      </p:sp>
      <p:sp>
        <p:nvSpPr>
          <p:cNvPr id="3" name="TextBox 2"/>
          <p:cNvSpPr txBox="1"/>
          <p:nvPr/>
        </p:nvSpPr>
        <p:spPr>
          <a:xfrm>
            <a:off x="640080" y="914400"/>
            <a:ext cx="7863840" cy="5486400"/>
          </a:xfrm>
          <a:prstGeom prst="rect">
            <a:avLst/>
          </a:prstGeom>
          <a:noFill/>
        </p:spPr>
        <p:txBody>
          <a:bodyPr wrap="square">
            <a:spAutoFit/>
          </a:bodyPr>
          <a:lstStyle/>
          <a:p/>
          <a:p>
            <a:pPr>
              <a:spcBef>
                <a:spcPts val="1000"/>
              </a:spcBef>
              <a:spcAft>
                <a:spcPts val="500"/>
              </a:spcAft>
              <a:defRPr sz="1600" b="1">
                <a:solidFill>
                  <a:srgbClr val="1F4E79"/>
                </a:solidFill>
              </a:defRPr>
            </a:pPr>
            <a:r>
              <a:t>Research Objectives</a:t>
            </a:r>
          </a:p>
          <a:p>
            <a:pPr lvl="1">
              <a:spcAft>
                <a:spcPts val="300"/>
              </a:spcAft>
              <a:defRPr sz="1300">
                <a:solidFill>
                  <a:srgbClr val="595959"/>
                </a:solidFill>
              </a:defRPr>
            </a:pPr>
            <a:r>
              <a:t>Analyze spatial and temporal patterns of forest fire detections in Greece</a:t>
            </a:r>
          </a:p>
          <a:p>
            <a:pPr lvl="1">
              <a:spcAft>
                <a:spcPts val="300"/>
              </a:spcAft>
              <a:defRPr sz="1300">
                <a:solidFill>
                  <a:srgbClr val="595959"/>
                </a:solidFill>
              </a:defRPr>
            </a:pPr>
            <a:r>
              <a:t>Identify correlation between fire activity and meteorological conditions</a:t>
            </a:r>
          </a:p>
          <a:p>
            <a:pPr lvl="1">
              <a:spcAft>
                <a:spcPts val="300"/>
              </a:spcAft>
              <a:defRPr sz="1300">
                <a:solidFill>
                  <a:srgbClr val="595959"/>
                </a:solidFill>
              </a:defRPr>
            </a:pPr>
            <a:r>
              <a:t>Develop insights for fire prevention and early warning systems</a:t>
            </a:r>
          </a:p>
          <a:p>
            <a:pPr>
              <a:spcBef>
                <a:spcPts val="1000"/>
              </a:spcBef>
              <a:spcAft>
                <a:spcPts val="500"/>
              </a:spcAft>
              <a:defRPr sz="1600" b="1">
                <a:solidFill>
                  <a:srgbClr val="1F4E79"/>
                </a:solidFill>
              </a:defRPr>
            </a:pPr>
            <a:r>
              <a:t>Data Source</a:t>
            </a:r>
          </a:p>
          <a:p>
            <a:pPr lvl="1">
              <a:spcAft>
                <a:spcPts val="300"/>
              </a:spcAft>
              <a:defRPr sz="1300">
                <a:solidFill>
                  <a:srgbClr val="595959"/>
                </a:solidFill>
              </a:defRPr>
            </a:pPr>
            <a:r>
              <a:t>MODIS and VIIRS satellite fire detection products</a:t>
            </a:r>
          </a:p>
          <a:p>
            <a:pPr lvl="1">
              <a:spcAft>
                <a:spcPts val="300"/>
              </a:spcAft>
              <a:defRPr sz="1300">
                <a:solidFill>
                  <a:srgbClr val="595959"/>
                </a:solidFill>
              </a:defRPr>
            </a:pPr>
            <a:r>
              <a:t>36,004 individual fire detection records</a:t>
            </a:r>
          </a:p>
          <a:p>
            <a:pPr lvl="1">
              <a:spcAft>
                <a:spcPts val="300"/>
              </a:spcAft>
              <a:defRPr sz="1300">
                <a:solidFill>
                  <a:srgbClr val="595959"/>
                </a:solidFill>
              </a:defRPr>
            </a:pPr>
            <a:r>
              <a:t>10-year observation period with full geospatial coverage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Dataset Overview and Temporal Distribution</a:t>
            </a:r>
          </a:p>
        </p:txBody>
      </p:sp>
      <p:sp>
        <p:nvSpPr>
          <p:cNvPr id="3" name="TextBox 2"/>
          <p:cNvSpPr txBox="1"/>
          <p:nvPr/>
        </p:nvSpPr>
        <p:spPr>
          <a:xfrm>
            <a:off x="457200" y="822960"/>
            <a:ext cx="4114800" cy="5669280"/>
          </a:xfrm>
          <a:prstGeom prst="rect">
            <a:avLst/>
          </a:prstGeom>
          <a:noFill/>
        </p:spPr>
        <p:txBody>
          <a:bodyPr wrap="square">
            <a:spAutoFit/>
          </a:bodyPr>
          <a:lstStyle/>
          <a:p/>
          <a:p>
            <a:pPr>
              <a:spcAft>
                <a:spcPts val="400"/>
              </a:spcAft>
              <a:defRPr sz="1100">
                <a:solidFill>
                  <a:srgbClr val="595959"/>
                </a:solidFill>
              </a:defRPr>
            </a:pPr>
            <a:r>
              <a:t>Total Detections: 36,004 records</a:t>
            </a:r>
          </a:p>
          <a:p>
            <a:pPr>
              <a:spcAft>
                <a:spcPts val="400"/>
              </a:spcAft>
              <a:defRPr sz="1100">
                <a:solidFill>
                  <a:srgbClr val="595959"/>
                </a:solidFill>
              </a:defRPr>
            </a:pPr>
            <a:r>
              <a:t>Time Period: May 2015 to February 2025</a:t>
            </a:r>
          </a:p>
          <a:p>
            <a:pPr>
              <a:spcBef>
                <a:spcPts val="800"/>
              </a:spcBef>
              <a:spcAft>
                <a:spcPts val="400"/>
              </a:spcAft>
              <a:defRPr sz="1400" b="1">
                <a:solidFill>
                  <a:srgbClr val="1F4E79"/>
                </a:solidFill>
              </a:defRPr>
            </a:pPr>
            <a:r>
              <a:t>Geographic Coverage</a:t>
            </a:r>
          </a:p>
          <a:p>
            <a:pPr lvl="1">
              <a:spcAft>
                <a:spcPts val="200"/>
              </a:spcAft>
              <a:defRPr sz="1100">
                <a:solidFill>
                  <a:srgbClr val="595959"/>
                </a:solidFill>
              </a:defRPr>
            </a:pPr>
            <a:r>
              <a:t>Latitude: 34.96 to 41.75 North</a:t>
            </a:r>
          </a:p>
          <a:p>
            <a:pPr lvl="1">
              <a:spcAft>
                <a:spcPts val="200"/>
              </a:spcAft>
              <a:defRPr sz="1100">
                <a:solidFill>
                  <a:srgbClr val="595959"/>
                </a:solidFill>
              </a:defRPr>
            </a:pPr>
            <a:r>
              <a:t>Longitude: 19.66 to 28.23 East</a:t>
            </a:r>
          </a:p>
          <a:p>
            <a:pPr>
              <a:spcBef>
                <a:spcPts val="800"/>
              </a:spcBef>
              <a:spcAft>
                <a:spcPts val="400"/>
              </a:spcAft>
              <a:defRPr sz="1400" b="1">
                <a:solidFill>
                  <a:srgbClr val="1F4E79"/>
                </a:solidFill>
              </a:defRPr>
            </a:pPr>
            <a:r>
              <a:t>Temporal Patterns</a:t>
            </a:r>
          </a:p>
          <a:p>
            <a:pPr lvl="1">
              <a:spcAft>
                <a:spcPts val="200"/>
              </a:spcAft>
              <a:defRPr sz="1100">
                <a:solidFill>
                  <a:srgbClr val="595959"/>
                </a:solidFill>
              </a:defRPr>
            </a:pPr>
            <a:r>
              <a:t>Monthly average: 305 detections</a:t>
            </a:r>
          </a:p>
          <a:p>
            <a:pPr lvl="1">
              <a:spcAft>
                <a:spcPts val="200"/>
              </a:spcAft>
              <a:defRPr sz="1100">
                <a:solidFill>
                  <a:srgbClr val="595959"/>
                </a:solidFill>
              </a:defRPr>
            </a:pPr>
            <a:r>
              <a:t>Peak month: August 2023 with 4,372 events</a:t>
            </a:r>
          </a:p>
          <a:p>
            <a:pPr lvl="1">
              <a:spcAft>
                <a:spcPts val="200"/>
              </a:spcAft>
              <a:defRPr sz="1100">
                <a:solidFill>
                  <a:srgbClr val="595959"/>
                </a:solidFill>
              </a:defRPr>
            </a:pPr>
            <a:r>
              <a:t>Significant inter-annual variability</a:t>
            </a:r>
          </a:p>
        </p:txBody>
      </p:sp>
      <p:pic>
        <p:nvPicPr>
          <p:cNvPr id="4" name="Picture 3" descr="daily_count.jpg"/>
          <p:cNvPicPr>
            <a:picLocks noChangeAspect="1"/>
          </p:cNvPicPr>
          <p:nvPr/>
        </p:nvPicPr>
        <p:blipFill>
          <a:blip r:embed="rId2"/>
          <a:stretch>
            <a:fillRect/>
          </a:stretch>
        </p:blipFill>
        <p:spPr>
          <a:xfrm>
            <a:off x="4754880" y="822960"/>
            <a:ext cx="3931920" cy="19659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Thermal Characteristics of Detected Fires</a:t>
            </a:r>
          </a:p>
        </p:txBody>
      </p:sp>
      <p:sp>
        <p:nvSpPr>
          <p:cNvPr id="3" name="TextBox 2"/>
          <p:cNvSpPr txBox="1"/>
          <p:nvPr/>
        </p:nvSpPr>
        <p:spPr>
          <a:xfrm>
            <a:off x="457200" y="822960"/>
            <a:ext cx="4114800" cy="5669280"/>
          </a:xfrm>
          <a:prstGeom prst="rect">
            <a:avLst/>
          </a:prstGeom>
          <a:noFill/>
        </p:spPr>
        <p:txBody>
          <a:bodyPr wrap="square">
            <a:spAutoFit/>
          </a:bodyPr>
          <a:lstStyle/>
          <a:p/>
          <a:p>
            <a:pPr>
              <a:spcBef>
                <a:spcPts val="800"/>
              </a:spcBef>
              <a:spcAft>
                <a:spcPts val="400"/>
              </a:spcAft>
              <a:defRPr sz="1400" b="1">
                <a:solidFill>
                  <a:srgbClr val="1F4E79"/>
                </a:solidFill>
              </a:defRPr>
            </a:pPr>
            <a:r>
              <a:t>Brightness Temperature</a:t>
            </a:r>
          </a:p>
          <a:p>
            <a:pPr lvl="1">
              <a:spcAft>
                <a:spcPts val="200"/>
              </a:spcAft>
              <a:defRPr sz="1100">
                <a:solidFill>
                  <a:srgbClr val="595959"/>
                </a:solidFill>
              </a:defRPr>
            </a:pPr>
            <a:r>
              <a:t>Mean: 330.4 Kelvin</a:t>
            </a:r>
          </a:p>
          <a:p>
            <a:pPr lvl="1">
              <a:spcAft>
                <a:spcPts val="200"/>
              </a:spcAft>
              <a:defRPr sz="1100">
                <a:solidFill>
                  <a:srgbClr val="595959"/>
                </a:solidFill>
              </a:defRPr>
            </a:pPr>
            <a:r>
              <a:t>Range: 208.0 to 367.0 K</a:t>
            </a:r>
          </a:p>
          <a:p>
            <a:pPr lvl="1">
              <a:spcAft>
                <a:spcPts val="200"/>
              </a:spcAft>
              <a:defRPr sz="1100">
                <a:solidFill>
                  <a:srgbClr val="595959"/>
                </a:solidFill>
              </a:defRPr>
            </a:pPr>
            <a:r>
              <a:t>Standard deviation: 19.9 K</a:t>
            </a:r>
          </a:p>
          <a:p>
            <a:pPr lvl="1">
              <a:spcAft>
                <a:spcPts val="200"/>
              </a:spcAft>
              <a:defRPr sz="1100">
                <a:solidFill>
                  <a:srgbClr val="595959"/>
                </a:solidFill>
              </a:defRPr>
            </a:pPr>
            <a:r>
              <a:t>Indicates surface temperature of fire</a:t>
            </a:r>
          </a:p>
          <a:p>
            <a:pPr>
              <a:spcBef>
                <a:spcPts val="800"/>
              </a:spcBef>
              <a:spcAft>
                <a:spcPts val="400"/>
              </a:spcAft>
              <a:defRPr sz="1400" b="1">
                <a:solidFill>
                  <a:srgbClr val="1F4E79"/>
                </a:solidFill>
              </a:defRPr>
            </a:pPr>
            <a:r>
              <a:t>Fire Radiative Power</a:t>
            </a:r>
          </a:p>
          <a:p>
            <a:pPr lvl="1">
              <a:spcAft>
                <a:spcPts val="200"/>
              </a:spcAft>
              <a:defRPr sz="1100">
                <a:solidFill>
                  <a:srgbClr val="595959"/>
                </a:solidFill>
              </a:defRPr>
            </a:pPr>
            <a:r>
              <a:t>Mean: 12.9 megawatts</a:t>
            </a:r>
          </a:p>
          <a:p>
            <a:pPr lvl="1">
              <a:spcAft>
                <a:spcPts val="200"/>
              </a:spcAft>
              <a:defRPr sz="1100">
                <a:solidFill>
                  <a:srgbClr val="595959"/>
                </a:solidFill>
              </a:defRPr>
            </a:pPr>
            <a:r>
              <a:t>Range: 0.0 to 939.8 MW</a:t>
            </a:r>
          </a:p>
          <a:p>
            <a:pPr lvl="1">
              <a:spcAft>
                <a:spcPts val="200"/>
              </a:spcAft>
              <a:defRPr sz="1100">
                <a:solidFill>
                  <a:srgbClr val="595959"/>
                </a:solidFill>
              </a:defRPr>
            </a:pPr>
            <a:r>
              <a:t>Highly variable with fire intensity</a:t>
            </a:r>
          </a:p>
        </p:txBody>
      </p:sp>
      <p:pic>
        <p:nvPicPr>
          <p:cNvPr id="4" name="Picture 3" descr="brightness_box.jpg"/>
          <p:cNvPicPr>
            <a:picLocks noChangeAspect="1"/>
          </p:cNvPicPr>
          <p:nvPr/>
        </p:nvPicPr>
        <p:blipFill>
          <a:blip r:embed="rId2"/>
          <a:stretch>
            <a:fillRect/>
          </a:stretch>
        </p:blipFill>
        <p:spPr>
          <a:xfrm>
            <a:off x="4754880" y="822960"/>
            <a:ext cx="3931920" cy="3931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Distribution Analysis of Brightness Values</a:t>
            </a:r>
          </a:p>
        </p:txBody>
      </p:sp>
      <p:sp>
        <p:nvSpPr>
          <p:cNvPr id="3" name="TextBox 2"/>
          <p:cNvSpPr txBox="1"/>
          <p:nvPr/>
        </p:nvSpPr>
        <p:spPr>
          <a:xfrm>
            <a:off x="457200" y="822960"/>
            <a:ext cx="4114800" cy="5669280"/>
          </a:xfrm>
          <a:prstGeom prst="rect">
            <a:avLst/>
          </a:prstGeom>
          <a:noFill/>
        </p:spPr>
        <p:txBody>
          <a:bodyPr wrap="square">
            <a:spAutoFit/>
          </a:bodyPr>
          <a:lstStyle/>
          <a:p/>
          <a:p>
            <a:pPr>
              <a:spcBef>
                <a:spcPts val="800"/>
              </a:spcBef>
              <a:spcAft>
                <a:spcPts val="400"/>
              </a:spcAft>
              <a:defRPr sz="1400" b="1">
                <a:solidFill>
                  <a:srgbClr val="1F4E79"/>
                </a:solidFill>
              </a:defRPr>
            </a:pPr>
            <a:r>
              <a:t>Distribution Shape</a:t>
            </a:r>
          </a:p>
          <a:p>
            <a:pPr lvl="1">
              <a:spcAft>
                <a:spcPts val="200"/>
              </a:spcAft>
              <a:defRPr sz="1100">
                <a:solidFill>
                  <a:srgbClr val="595959"/>
                </a:solidFill>
              </a:defRPr>
            </a:pPr>
            <a:r>
              <a:t>Bimodal distribution observed</a:t>
            </a:r>
          </a:p>
          <a:p>
            <a:pPr lvl="1">
              <a:spcAft>
                <a:spcPts val="200"/>
              </a:spcAft>
              <a:defRPr sz="1100">
                <a:solidFill>
                  <a:srgbClr val="595959"/>
                </a:solidFill>
              </a:defRPr>
            </a:pPr>
            <a:r>
              <a:t>Primary peak around 320-340 Kelvin</a:t>
            </a:r>
          </a:p>
          <a:p>
            <a:pPr lvl="1">
              <a:spcAft>
                <a:spcPts val="200"/>
              </a:spcAft>
              <a:defRPr sz="1100">
                <a:solidFill>
                  <a:srgbClr val="595959"/>
                </a:solidFill>
              </a:defRPr>
            </a:pPr>
            <a:r>
              <a:t>Secondary peak near 360 Kelvin</a:t>
            </a:r>
          </a:p>
          <a:p>
            <a:pPr lvl="1">
              <a:spcAft>
                <a:spcPts val="200"/>
              </a:spcAft>
              <a:defRPr sz="1100">
                <a:solidFill>
                  <a:srgbClr val="595959"/>
                </a:solidFill>
              </a:defRPr>
            </a:pPr>
            <a:r>
              <a:t>Indicates different fire intensities</a:t>
            </a:r>
          </a:p>
          <a:p>
            <a:pPr>
              <a:spcBef>
                <a:spcPts val="800"/>
              </a:spcBef>
              <a:spcAft>
                <a:spcPts val="400"/>
              </a:spcAft>
              <a:defRPr sz="1400" b="1">
                <a:solidFill>
                  <a:srgbClr val="1F4E79"/>
                </a:solidFill>
              </a:defRPr>
            </a:pPr>
            <a:r>
              <a:t>Statistical Properties</a:t>
            </a:r>
          </a:p>
          <a:p>
            <a:pPr lvl="1">
              <a:spcAft>
                <a:spcPts val="200"/>
              </a:spcAft>
              <a:defRPr sz="1100">
                <a:solidFill>
                  <a:srgbClr val="595959"/>
                </a:solidFill>
              </a:defRPr>
            </a:pPr>
            <a:r>
              <a:t>Median: 332.3 Kelvin</a:t>
            </a:r>
          </a:p>
          <a:p>
            <a:pPr lvl="1">
              <a:spcAft>
                <a:spcPts val="200"/>
              </a:spcAft>
              <a:defRPr sz="1100">
                <a:solidFill>
                  <a:srgbClr val="595959"/>
                </a:solidFill>
              </a:defRPr>
            </a:pPr>
            <a:r>
              <a:t>Mean: 330.4 Kelvin</a:t>
            </a:r>
          </a:p>
          <a:p>
            <a:pPr lvl="1">
              <a:spcAft>
                <a:spcPts val="200"/>
              </a:spcAft>
              <a:defRPr sz="1100">
                <a:solidFill>
                  <a:srgbClr val="595959"/>
                </a:solidFill>
              </a:defRPr>
            </a:pPr>
            <a:r>
              <a:t>Relatively symmetric around peak</a:t>
            </a:r>
          </a:p>
        </p:txBody>
      </p:sp>
      <p:pic>
        <p:nvPicPr>
          <p:cNvPr id="4" name="Picture 3" descr="brightness_hist.jpg"/>
          <p:cNvPicPr>
            <a:picLocks noChangeAspect="1"/>
          </p:cNvPicPr>
          <p:nvPr/>
        </p:nvPicPr>
        <p:blipFill>
          <a:blip r:embed="rId2"/>
          <a:stretch>
            <a:fillRect/>
          </a:stretch>
        </p:blipFill>
        <p:spPr>
          <a:xfrm>
            <a:off x="4754880" y="822960"/>
            <a:ext cx="3931920" cy="224681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Detection Confidence Assessment</a:t>
            </a:r>
          </a:p>
        </p:txBody>
      </p:sp>
      <p:sp>
        <p:nvSpPr>
          <p:cNvPr id="3" name="TextBox 2"/>
          <p:cNvSpPr txBox="1"/>
          <p:nvPr/>
        </p:nvSpPr>
        <p:spPr>
          <a:xfrm>
            <a:off x="640080" y="914400"/>
            <a:ext cx="7863840" cy="5486400"/>
          </a:xfrm>
          <a:prstGeom prst="rect">
            <a:avLst/>
          </a:prstGeom>
          <a:noFill/>
        </p:spPr>
        <p:txBody>
          <a:bodyPr wrap="square">
            <a:spAutoFit/>
          </a:bodyPr>
          <a:lstStyle/>
          <a:p/>
          <a:p>
            <a:pPr>
              <a:spcBef>
                <a:spcPts val="1000"/>
              </a:spcBef>
              <a:spcAft>
                <a:spcPts val="500"/>
              </a:spcAft>
              <a:defRPr sz="1600" b="1">
                <a:solidFill>
                  <a:srgbClr val="1F4E79"/>
                </a:solidFill>
              </a:defRPr>
            </a:pPr>
            <a:r>
              <a:t>Confidence Distribution</a:t>
            </a:r>
          </a:p>
          <a:p>
            <a:pPr lvl="1">
              <a:spcAft>
                <a:spcPts val="300"/>
              </a:spcAft>
              <a:defRPr sz="1300">
                <a:solidFill>
                  <a:srgbClr val="595959"/>
                </a:solidFill>
              </a:defRPr>
            </a:pPr>
            <a:r>
              <a:t>High confidence: 2,477 detections (6.9%)</a:t>
            </a:r>
          </a:p>
          <a:p>
            <a:pPr lvl="1">
              <a:spcAft>
                <a:spcPts val="300"/>
              </a:spcAft>
              <a:defRPr sz="1300">
                <a:solidFill>
                  <a:srgbClr val="595959"/>
                </a:solidFill>
              </a:defRPr>
            </a:pPr>
            <a:r>
              <a:t>Medium confidence: 1,988 detections (5.5%)</a:t>
            </a:r>
          </a:p>
          <a:p>
            <a:pPr lvl="1">
              <a:spcAft>
                <a:spcPts val="300"/>
              </a:spcAft>
              <a:defRPr sz="1300">
                <a:solidFill>
                  <a:srgbClr val="595959"/>
                </a:solidFill>
              </a:defRPr>
            </a:pPr>
            <a:r>
              <a:t>Low confidence: 31,539 detections (87.6%)</a:t>
            </a:r>
          </a:p>
          <a:p>
            <a:pPr>
              <a:spcBef>
                <a:spcPts val="1000"/>
              </a:spcBef>
              <a:spcAft>
                <a:spcPts val="500"/>
              </a:spcAft>
              <a:defRPr sz="1600" b="1">
                <a:solidFill>
                  <a:srgbClr val="1F4E79"/>
                </a:solidFill>
              </a:defRPr>
            </a:pPr>
            <a:r>
              <a:t>Interpretation</a:t>
            </a:r>
          </a:p>
          <a:p>
            <a:pPr lvl="1">
              <a:spcAft>
                <a:spcPts val="300"/>
              </a:spcAft>
              <a:defRPr sz="1300">
                <a:solidFill>
                  <a:srgbClr val="595959"/>
                </a:solidFill>
              </a:defRPr>
            </a:pPr>
            <a:r>
              <a:t>Majority of detections have low confidence scores</a:t>
            </a:r>
          </a:p>
          <a:p>
            <a:pPr lvl="1">
              <a:spcAft>
                <a:spcPts val="300"/>
              </a:spcAft>
              <a:defRPr sz="1300">
                <a:solidFill>
                  <a:srgbClr val="595959"/>
                </a:solidFill>
              </a:defRPr>
            </a:pPr>
            <a:r>
              <a:t>Typical for satellite fire detection systems</a:t>
            </a:r>
          </a:p>
          <a:p>
            <a:pPr lvl="1">
              <a:spcAft>
                <a:spcPts val="300"/>
              </a:spcAft>
              <a:defRPr sz="1300">
                <a:solidFill>
                  <a:srgbClr val="595959"/>
                </a:solidFill>
              </a:defRPr>
            </a:pPr>
            <a:r>
              <a:t>Requires integration with other data sources</a:t>
            </a:r>
          </a:p>
          <a:p>
            <a:pPr lvl="1">
              <a:spcAft>
                <a:spcPts val="300"/>
              </a:spcAft>
              <a:defRPr sz="1300">
                <a:solidFill>
                  <a:srgbClr val="595959"/>
                </a:solidFill>
              </a:defRPr>
            </a:pPr>
            <a:r>
              <a:t>Reliable for trend analysis and pattern identification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Meteorological Context</a:t>
            </a:r>
          </a:p>
        </p:txBody>
      </p:sp>
      <p:sp>
        <p:nvSpPr>
          <p:cNvPr id="3" name="TextBox 2"/>
          <p:cNvSpPr txBox="1"/>
          <p:nvPr/>
        </p:nvSpPr>
        <p:spPr>
          <a:xfrm>
            <a:off x="457200" y="822960"/>
            <a:ext cx="4114800" cy="5669280"/>
          </a:xfrm>
          <a:prstGeom prst="rect">
            <a:avLst/>
          </a:prstGeom>
          <a:noFill/>
        </p:spPr>
        <p:txBody>
          <a:bodyPr wrap="square">
            <a:spAutoFit/>
          </a:bodyPr>
          <a:lstStyle/>
          <a:p/>
          <a:p>
            <a:pPr>
              <a:spcBef>
                <a:spcPts val="800"/>
              </a:spcBef>
              <a:spcAft>
                <a:spcPts val="400"/>
              </a:spcAft>
              <a:defRPr sz="1400" b="1">
                <a:solidFill>
                  <a:srgbClr val="1F4E79"/>
                </a:solidFill>
              </a:defRPr>
            </a:pPr>
            <a:r>
              <a:t>Temperature</a:t>
            </a:r>
          </a:p>
          <a:p>
            <a:pPr lvl="1">
              <a:spcAft>
                <a:spcPts val="200"/>
              </a:spcAft>
              <a:defRPr sz="1100">
                <a:solidFill>
                  <a:srgbClr val="595959"/>
                </a:solidFill>
              </a:defRPr>
            </a:pPr>
            <a:r>
              <a:t>Average: 22.2 degrees Celsius</a:t>
            </a:r>
          </a:p>
          <a:p>
            <a:pPr lvl="1">
              <a:spcAft>
                <a:spcPts val="200"/>
              </a:spcAft>
              <a:defRPr sz="1100">
                <a:solidFill>
                  <a:srgbClr val="595959"/>
                </a:solidFill>
              </a:defRPr>
            </a:pPr>
            <a:r>
              <a:t>Minimum mean: 16.1 degrees Celsius</a:t>
            </a:r>
          </a:p>
          <a:p>
            <a:pPr lvl="1">
              <a:spcAft>
                <a:spcPts val="200"/>
              </a:spcAft>
              <a:defRPr sz="1100">
                <a:solidFill>
                  <a:srgbClr val="595959"/>
                </a:solidFill>
              </a:defRPr>
            </a:pPr>
            <a:r>
              <a:t>Maximum mean: 28.2 degrees Celsius</a:t>
            </a:r>
          </a:p>
          <a:p>
            <a:pPr>
              <a:spcBef>
                <a:spcPts val="800"/>
              </a:spcBef>
              <a:spcAft>
                <a:spcPts val="400"/>
              </a:spcAft>
              <a:defRPr sz="1400" b="1">
                <a:solidFill>
                  <a:srgbClr val="1F4E79"/>
                </a:solidFill>
              </a:defRPr>
            </a:pPr>
            <a:r>
              <a:t>Precipitation</a:t>
            </a:r>
          </a:p>
          <a:p>
            <a:pPr lvl="1">
              <a:spcAft>
                <a:spcPts val="200"/>
              </a:spcAft>
              <a:defRPr sz="1100">
                <a:solidFill>
                  <a:srgbClr val="595959"/>
                </a:solidFill>
              </a:defRPr>
            </a:pPr>
            <a:r>
              <a:t>Average: 0.1 millimeters</a:t>
            </a:r>
          </a:p>
          <a:p>
            <a:pPr lvl="1">
              <a:spcAft>
                <a:spcPts val="200"/>
              </a:spcAft>
              <a:defRPr sz="1100">
                <a:solidFill>
                  <a:srgbClr val="595959"/>
                </a:solidFill>
              </a:defRPr>
            </a:pPr>
            <a:r>
              <a:t>Inverse correlation with fire activity</a:t>
            </a:r>
          </a:p>
          <a:p>
            <a:pPr lvl="1">
              <a:spcAft>
                <a:spcPts val="200"/>
              </a:spcAft>
              <a:defRPr sz="1100">
                <a:solidFill>
                  <a:srgbClr val="595959"/>
                </a:solidFill>
              </a:defRPr>
            </a:pPr>
            <a:r>
              <a:t>Maximum recorded: 55.3 millimeters</a:t>
            </a:r>
          </a:p>
          <a:p>
            <a:pPr>
              <a:spcBef>
                <a:spcPts val="800"/>
              </a:spcBef>
              <a:spcAft>
                <a:spcPts val="400"/>
              </a:spcAft>
              <a:defRPr sz="1400" b="1">
                <a:solidFill>
                  <a:srgbClr val="1F4E79"/>
                </a:solidFill>
              </a:defRPr>
            </a:pPr>
            <a:r>
              <a:t>Wind Speed</a:t>
            </a:r>
          </a:p>
          <a:p>
            <a:pPr lvl="1">
              <a:spcAft>
                <a:spcPts val="200"/>
              </a:spcAft>
              <a:defRPr sz="1100">
                <a:solidFill>
                  <a:srgbClr val="595959"/>
                </a:solidFill>
              </a:defRPr>
            </a:pPr>
            <a:r>
              <a:t>Average: 11.3 meters per second</a:t>
            </a:r>
          </a:p>
          <a:p>
            <a:pPr lvl="1">
              <a:spcAft>
                <a:spcPts val="200"/>
              </a:spcAft>
              <a:defRPr sz="1100">
                <a:solidFill>
                  <a:srgbClr val="595959"/>
                </a:solidFill>
              </a:defRPr>
            </a:pPr>
            <a:r>
              <a:t>Maximum: 50.6 meters per second</a:t>
            </a:r>
          </a:p>
          <a:p>
            <a:pPr lvl="1">
              <a:spcAft>
                <a:spcPts val="200"/>
              </a:spcAft>
              <a:defRPr sz="1100">
                <a:solidFill>
                  <a:srgbClr val="595959"/>
                </a:solidFill>
              </a:defRPr>
            </a:pPr>
            <a:r>
              <a:t>Key factor in fire propagation</a:t>
            </a:r>
          </a:p>
        </p:txBody>
      </p:sp>
      <p:pic>
        <p:nvPicPr>
          <p:cNvPr id="4" name="Picture 3" descr="brightness_vs_tmax.jpg"/>
          <p:cNvPicPr>
            <a:picLocks noChangeAspect="1"/>
          </p:cNvPicPr>
          <p:nvPr/>
        </p:nvPicPr>
        <p:blipFill>
          <a:blip r:embed="rId2"/>
          <a:stretch>
            <a:fillRect/>
          </a:stretch>
        </p:blipFill>
        <p:spPr>
          <a:xfrm>
            <a:off x="4754880" y="822960"/>
            <a:ext cx="3931920" cy="2621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Geographic Distribution and Hotspots</a:t>
            </a:r>
          </a:p>
        </p:txBody>
      </p:sp>
      <p:sp>
        <p:nvSpPr>
          <p:cNvPr id="3" name="TextBox 2"/>
          <p:cNvSpPr txBox="1"/>
          <p:nvPr/>
        </p:nvSpPr>
        <p:spPr>
          <a:xfrm>
            <a:off x="457200" y="822960"/>
            <a:ext cx="4114800" cy="5669280"/>
          </a:xfrm>
          <a:prstGeom prst="rect">
            <a:avLst/>
          </a:prstGeom>
          <a:noFill/>
        </p:spPr>
        <p:txBody>
          <a:bodyPr wrap="square">
            <a:spAutoFit/>
          </a:bodyPr>
          <a:lstStyle/>
          <a:p/>
          <a:p>
            <a:pPr>
              <a:spcBef>
                <a:spcPts val="800"/>
              </a:spcBef>
              <a:spcAft>
                <a:spcPts val="400"/>
              </a:spcAft>
              <a:defRPr sz="1400" b="1">
                <a:solidFill>
                  <a:srgbClr val="1F4E79"/>
                </a:solidFill>
              </a:defRPr>
            </a:pPr>
            <a:r>
              <a:t>Concentration Areas</a:t>
            </a:r>
          </a:p>
          <a:p>
            <a:pPr lvl="1">
              <a:spcAft>
                <a:spcPts val="200"/>
              </a:spcAft>
              <a:defRPr sz="1100">
                <a:solidFill>
                  <a:srgbClr val="595959"/>
                </a:solidFill>
              </a:defRPr>
            </a:pPr>
            <a:r>
              <a:t>Central Greece: latitude 38.1 to 38.6 North</a:t>
            </a:r>
          </a:p>
          <a:p>
            <a:pPr lvl="1">
              <a:spcAft>
                <a:spcPts val="200"/>
              </a:spcAft>
              <a:defRPr sz="1100">
                <a:solidFill>
                  <a:srgbClr val="595959"/>
                </a:solidFill>
              </a:defRPr>
            </a:pPr>
            <a:r>
              <a:t>Attica and Boeotia regions dominant</a:t>
            </a:r>
          </a:p>
          <a:p>
            <a:pPr lvl="1">
              <a:spcAft>
                <a:spcPts val="200"/>
              </a:spcAft>
              <a:defRPr sz="1100">
                <a:solidFill>
                  <a:srgbClr val="595959"/>
                </a:solidFill>
              </a:defRPr>
            </a:pPr>
            <a:r>
              <a:t>Eastern Peloponnese secondary hotspot</a:t>
            </a:r>
          </a:p>
          <a:p>
            <a:pPr>
              <a:spcBef>
                <a:spcPts val="800"/>
              </a:spcBef>
              <a:spcAft>
                <a:spcPts val="400"/>
              </a:spcAft>
              <a:defRPr sz="1400" b="1">
                <a:solidFill>
                  <a:srgbClr val="1F4E79"/>
                </a:solidFill>
              </a:defRPr>
            </a:pPr>
            <a:r>
              <a:t>Characteristics</a:t>
            </a:r>
          </a:p>
          <a:p>
            <a:pPr lvl="1">
              <a:spcAft>
                <a:spcPts val="200"/>
              </a:spcAft>
              <a:defRPr sz="1100">
                <a:solidFill>
                  <a:srgbClr val="595959"/>
                </a:solidFill>
              </a:defRPr>
            </a:pPr>
            <a:r>
              <a:t>Corresponds to populated and forested regions</a:t>
            </a:r>
          </a:p>
          <a:p>
            <a:pPr lvl="1">
              <a:spcAft>
                <a:spcPts val="200"/>
              </a:spcAft>
              <a:defRPr sz="1100">
                <a:solidFill>
                  <a:srgbClr val="595959"/>
                </a:solidFill>
              </a:defRPr>
            </a:pPr>
            <a:r>
              <a:t>Mediterranean climate with dry summers</a:t>
            </a:r>
          </a:p>
          <a:p>
            <a:pPr lvl="1">
              <a:spcAft>
                <a:spcPts val="200"/>
              </a:spcAft>
              <a:defRPr sz="1100">
                <a:solidFill>
                  <a:srgbClr val="595959"/>
                </a:solidFill>
              </a:defRPr>
            </a:pPr>
            <a:r>
              <a:t>Historically high fire activity zone</a:t>
            </a:r>
          </a:p>
        </p:txBody>
      </p:sp>
      <p:pic>
        <p:nvPicPr>
          <p:cNvPr id="4" name="Picture 3" descr="spatial_brightness.jpg"/>
          <p:cNvPicPr>
            <a:picLocks noChangeAspect="1"/>
          </p:cNvPicPr>
          <p:nvPr/>
        </p:nvPicPr>
        <p:blipFill>
          <a:blip r:embed="rId2"/>
          <a:stretch>
            <a:fillRect/>
          </a:stretch>
        </p:blipFill>
        <p:spPr>
          <a:xfrm>
            <a:off x="4754880" y="822960"/>
            <a:ext cx="3931920" cy="337021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Long-term Temporal Trends</a:t>
            </a:r>
          </a:p>
        </p:txBody>
      </p:sp>
      <p:sp>
        <p:nvSpPr>
          <p:cNvPr id="3" name="TextBox 2"/>
          <p:cNvSpPr txBox="1"/>
          <p:nvPr/>
        </p:nvSpPr>
        <p:spPr>
          <a:xfrm>
            <a:off x="457200" y="822960"/>
            <a:ext cx="4114800" cy="5669280"/>
          </a:xfrm>
          <a:prstGeom prst="rect">
            <a:avLst/>
          </a:prstGeom>
          <a:noFill/>
        </p:spPr>
        <p:txBody>
          <a:bodyPr wrap="square">
            <a:spAutoFit/>
          </a:bodyPr>
          <a:lstStyle/>
          <a:p/>
          <a:p>
            <a:pPr>
              <a:spcBef>
                <a:spcPts val="800"/>
              </a:spcBef>
              <a:spcAft>
                <a:spcPts val="400"/>
              </a:spcAft>
              <a:defRPr sz="1400" b="1">
                <a:solidFill>
                  <a:srgbClr val="1F4E79"/>
                </a:solidFill>
              </a:defRPr>
            </a:pPr>
            <a:r>
              <a:t>Seasonality</a:t>
            </a:r>
          </a:p>
          <a:p>
            <a:pPr lvl="1">
              <a:spcAft>
                <a:spcPts val="200"/>
              </a:spcAft>
              <a:defRPr sz="1100">
                <a:solidFill>
                  <a:srgbClr val="595959"/>
                </a:solidFill>
              </a:defRPr>
            </a:pPr>
            <a:r>
              <a:t>Clear annual cycle with summer peaks</a:t>
            </a:r>
          </a:p>
          <a:p>
            <a:pPr lvl="1">
              <a:spcAft>
                <a:spcPts val="200"/>
              </a:spcAft>
              <a:defRPr sz="1100">
                <a:solidFill>
                  <a:srgbClr val="595959"/>
                </a:solidFill>
              </a:defRPr>
            </a:pPr>
            <a:r>
              <a:t>Highest activity: June through September</a:t>
            </a:r>
          </a:p>
          <a:p>
            <a:pPr lvl="1">
              <a:spcAft>
                <a:spcPts val="200"/>
              </a:spcAft>
              <a:defRPr sz="1100">
                <a:solidFill>
                  <a:srgbClr val="595959"/>
                </a:solidFill>
              </a:defRPr>
            </a:pPr>
            <a:r>
              <a:t>Winter minimum: December through February</a:t>
            </a:r>
          </a:p>
          <a:p>
            <a:pPr lvl="1">
              <a:spcAft>
                <a:spcPts val="200"/>
              </a:spcAft>
              <a:defRPr sz="1100">
                <a:solidFill>
                  <a:srgbClr val="595959"/>
                </a:solidFill>
              </a:defRPr>
            </a:pPr>
            <a:r>
              <a:t>Correlation with precipitation deficit</a:t>
            </a:r>
          </a:p>
          <a:p>
            <a:pPr>
              <a:spcBef>
                <a:spcPts val="800"/>
              </a:spcBef>
              <a:spcAft>
                <a:spcPts val="400"/>
              </a:spcAft>
              <a:defRPr sz="1400" b="1">
                <a:solidFill>
                  <a:srgbClr val="1F4E79"/>
                </a:solidFill>
              </a:defRPr>
            </a:pPr>
            <a:r>
              <a:t>Long-term Pattern</a:t>
            </a:r>
          </a:p>
          <a:p>
            <a:pPr lvl="1">
              <a:spcAft>
                <a:spcPts val="200"/>
              </a:spcAft>
              <a:defRPr sz="1100">
                <a:solidFill>
                  <a:srgbClr val="595959"/>
                </a:solidFill>
              </a:defRPr>
            </a:pPr>
            <a:r>
              <a:t>2023 marked exceptional fire year</a:t>
            </a:r>
          </a:p>
          <a:p>
            <a:pPr lvl="1">
              <a:spcAft>
                <a:spcPts val="200"/>
              </a:spcAft>
              <a:defRPr sz="1100">
                <a:solidFill>
                  <a:srgbClr val="595959"/>
                </a:solidFill>
              </a:defRPr>
            </a:pPr>
            <a:r>
              <a:t>General increasing trend observed</a:t>
            </a:r>
          </a:p>
          <a:p>
            <a:pPr lvl="1">
              <a:spcAft>
                <a:spcPts val="200"/>
              </a:spcAft>
              <a:defRPr sz="1100">
                <a:solidFill>
                  <a:srgbClr val="595959"/>
                </a:solidFill>
              </a:defRPr>
            </a:pPr>
            <a:r>
              <a:t>2024 showed elevated activity continuation</a:t>
            </a:r>
          </a:p>
        </p:txBody>
      </p:sp>
      <p:pic>
        <p:nvPicPr>
          <p:cNvPr id="4" name="Picture 3" descr="daily_mean_brightness.jpg"/>
          <p:cNvPicPr>
            <a:picLocks noChangeAspect="1"/>
          </p:cNvPicPr>
          <p:nvPr/>
        </p:nvPicPr>
        <p:blipFill>
          <a:blip r:embed="rId2"/>
          <a:stretch>
            <a:fillRect/>
          </a:stretch>
        </p:blipFill>
        <p:spPr>
          <a:xfrm>
            <a:off x="4754880" y="822960"/>
            <a:ext cx="3931920" cy="1965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Correlation Analysis Between Variables</a:t>
            </a:r>
          </a:p>
        </p:txBody>
      </p:sp>
      <p:sp>
        <p:nvSpPr>
          <p:cNvPr id="3" name="TextBox 2"/>
          <p:cNvSpPr txBox="1"/>
          <p:nvPr/>
        </p:nvSpPr>
        <p:spPr>
          <a:xfrm>
            <a:off x="640080" y="914400"/>
            <a:ext cx="7863840" cy="5486400"/>
          </a:xfrm>
          <a:prstGeom prst="rect">
            <a:avLst/>
          </a:prstGeom>
          <a:noFill/>
        </p:spPr>
        <p:txBody>
          <a:bodyPr wrap="square">
            <a:spAutoFit/>
          </a:bodyPr>
          <a:lstStyle/>
          <a:p/>
          <a:p>
            <a:pPr>
              <a:spcBef>
                <a:spcPts val="1000"/>
              </a:spcBef>
              <a:spcAft>
                <a:spcPts val="500"/>
              </a:spcAft>
              <a:defRPr sz="1600" b="1">
                <a:solidFill>
                  <a:srgbClr val="1F4E79"/>
                </a:solidFill>
              </a:defRPr>
            </a:pPr>
            <a:r>
              <a:t>Key Correlations</a:t>
            </a:r>
          </a:p>
          <a:p>
            <a:pPr lvl="1">
              <a:spcAft>
                <a:spcPts val="300"/>
              </a:spcAft>
              <a:defRPr sz="1300">
                <a:solidFill>
                  <a:srgbClr val="595959"/>
                </a:solidFill>
              </a:defRPr>
            </a:pPr>
            <a:r>
              <a:t>Brightness and Fire Radiative Power: 0.34 (moderate positive)</a:t>
            </a:r>
          </a:p>
          <a:p>
            <a:pPr lvl="1">
              <a:spcAft>
                <a:spcPts val="300"/>
              </a:spcAft>
              <a:defRPr sz="1300">
                <a:solidFill>
                  <a:srgbClr val="595959"/>
                </a:solidFill>
              </a:defRPr>
            </a:pPr>
            <a:r>
              <a:t>Tmax and Tavg: 0.97 (very strong positive)</a:t>
            </a:r>
          </a:p>
          <a:p>
            <a:pPr lvl="1">
              <a:spcAft>
                <a:spcPts val="300"/>
              </a:spcAft>
              <a:defRPr sz="1300">
                <a:solidFill>
                  <a:srgbClr val="595959"/>
                </a:solidFill>
              </a:defRPr>
            </a:pPr>
            <a:r>
              <a:t>Wind Speed and Tavg: 0.43 (moderate positive)</a:t>
            </a:r>
          </a:p>
          <a:p>
            <a:pPr lvl="1">
              <a:spcAft>
                <a:spcPts val="300"/>
              </a:spcAft>
              <a:defRPr sz="1300">
                <a:solidFill>
                  <a:srgbClr val="595959"/>
                </a:solidFill>
              </a:defRPr>
            </a:pPr>
            <a:r>
              <a:t>Precipitation and Tavg: -0.03 (negligible)</a:t>
            </a:r>
          </a:p>
          <a:p>
            <a:pPr>
              <a:spcBef>
                <a:spcPts val="1000"/>
              </a:spcBef>
              <a:spcAft>
                <a:spcPts val="500"/>
              </a:spcAft>
              <a:defRPr sz="1600" b="1">
                <a:solidFill>
                  <a:srgbClr val="1F4E79"/>
                </a:solidFill>
              </a:defRPr>
            </a:pPr>
            <a:r>
              <a:t>Implications</a:t>
            </a:r>
          </a:p>
          <a:p>
            <a:pPr lvl="1">
              <a:spcAft>
                <a:spcPts val="300"/>
              </a:spcAft>
              <a:defRPr sz="1300">
                <a:solidFill>
                  <a:srgbClr val="595959"/>
                </a:solidFill>
              </a:defRPr>
            </a:pPr>
            <a:r>
              <a:t>Brightness is moderately linked to fire intensity</a:t>
            </a:r>
          </a:p>
          <a:p>
            <a:pPr lvl="1">
              <a:spcAft>
                <a:spcPts val="300"/>
              </a:spcAft>
              <a:defRPr sz="1300">
                <a:solidFill>
                  <a:srgbClr val="595959"/>
                </a:solidFill>
              </a:defRPr>
            </a:pPr>
            <a:r>
              <a:t>Temperature variables are strongly intercorrelated</a:t>
            </a:r>
          </a:p>
          <a:p>
            <a:pPr lvl="1">
              <a:spcAft>
                <a:spcPts val="300"/>
              </a:spcAft>
              <a:defRPr sz="1300">
                <a:solidFill>
                  <a:srgbClr val="595959"/>
                </a:solidFill>
              </a:defRPr>
            </a:pPr>
            <a:r>
              <a:t>Wind speed independently affects conditions</a:t>
            </a:r>
          </a:p>
          <a:p>
            <a:pPr lvl="1">
              <a:spcAft>
                <a:spcPts val="300"/>
              </a:spcAft>
              <a:defRPr sz="1300">
                <a:solidFill>
                  <a:srgbClr val="595959"/>
                </a:solidFill>
              </a:defRPr>
            </a:pPr>
            <a:r>
              <a:t>Multi-factor approach needed for fire prediction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Summary Statistics</a:t>
            </a:r>
          </a:p>
        </p:txBody>
      </p:sp>
      <p:sp>
        <p:nvSpPr>
          <p:cNvPr id="3" name="TextBox 2"/>
          <p:cNvSpPr txBox="1"/>
          <p:nvPr/>
        </p:nvSpPr>
        <p:spPr>
          <a:xfrm>
            <a:off x="640080" y="914400"/>
            <a:ext cx="7863840" cy="5486400"/>
          </a:xfrm>
          <a:prstGeom prst="rect">
            <a:avLst/>
          </a:prstGeom>
          <a:noFill/>
        </p:spPr>
        <p:txBody>
          <a:bodyPr wrap="square">
            <a:spAutoFit/>
          </a:bodyPr>
          <a:lstStyle/>
          <a:p/>
          <a:p>
            <a:pPr>
              <a:spcBef>
                <a:spcPts val="1000"/>
              </a:spcBef>
              <a:spcAft>
                <a:spcPts val="500"/>
              </a:spcAft>
              <a:defRPr sz="1600" b="1">
                <a:solidFill>
                  <a:srgbClr val="1F4E79"/>
                </a:solidFill>
              </a:defRPr>
            </a:pPr>
            <a:r>
              <a:t>Brightness</a:t>
            </a:r>
          </a:p>
          <a:p>
            <a:pPr lvl="1">
              <a:spcAft>
                <a:spcPts val="300"/>
              </a:spcAft>
              <a:defRPr sz="1300">
                <a:solidFill>
                  <a:srgbClr val="595959"/>
                </a:solidFill>
              </a:defRPr>
            </a:pPr>
            <a:r>
              <a:t>Mean: 330.37 Kelvin, Standard Deviation: 19.93</a:t>
            </a:r>
          </a:p>
          <a:p>
            <a:pPr lvl="1">
              <a:spcAft>
                <a:spcPts val="300"/>
              </a:spcAft>
              <a:defRPr sz="1300">
                <a:solidFill>
                  <a:srgbClr val="595959"/>
                </a:solidFill>
              </a:defRPr>
            </a:pPr>
            <a:r>
              <a:t>Median: 332.32 Kelvin</a:t>
            </a:r>
          </a:p>
          <a:p>
            <a:pPr>
              <a:spcBef>
                <a:spcPts val="1000"/>
              </a:spcBef>
              <a:spcAft>
                <a:spcPts val="500"/>
              </a:spcAft>
              <a:defRPr sz="1600" b="1">
                <a:solidFill>
                  <a:srgbClr val="1F4E79"/>
                </a:solidFill>
              </a:defRPr>
            </a:pPr>
            <a:r>
              <a:t>Fire Radiative Power</a:t>
            </a:r>
          </a:p>
          <a:p>
            <a:pPr lvl="1">
              <a:spcAft>
                <a:spcPts val="300"/>
              </a:spcAft>
              <a:defRPr sz="1300">
                <a:solidFill>
                  <a:srgbClr val="595959"/>
                </a:solidFill>
              </a:defRPr>
            </a:pPr>
            <a:r>
              <a:t>Mean: 12.90 megawatts, Standard Deviation: 32.34</a:t>
            </a:r>
          </a:p>
          <a:p>
            <a:pPr lvl="1">
              <a:spcAft>
                <a:spcPts val="300"/>
              </a:spcAft>
              <a:defRPr sz="1300">
                <a:solidFill>
                  <a:srgbClr val="595959"/>
                </a:solidFill>
              </a:defRPr>
            </a:pPr>
            <a:r>
              <a:t>Median: 3.74 megawatts</a:t>
            </a:r>
          </a:p>
          <a:p>
            <a:pPr>
              <a:spcBef>
                <a:spcPts val="1000"/>
              </a:spcBef>
              <a:spcAft>
                <a:spcPts val="500"/>
              </a:spcAft>
              <a:defRPr sz="1600" b="1">
                <a:solidFill>
                  <a:srgbClr val="1F4E79"/>
                </a:solidFill>
              </a:defRPr>
            </a:pPr>
            <a:r>
              <a:t>Temperature Variables</a:t>
            </a:r>
          </a:p>
          <a:p>
            <a:pPr lvl="1">
              <a:spcAft>
                <a:spcPts val="300"/>
              </a:spcAft>
              <a:defRPr sz="1300">
                <a:solidFill>
                  <a:srgbClr val="595959"/>
                </a:solidFill>
              </a:defRPr>
            </a:pPr>
            <a:r>
              <a:t>Average Temperature: 22.21°C, Min: 16.15°C, Max: 28.23°C</a:t>
            </a:r>
          </a:p>
          <a:p>
            <a:pPr lvl="1">
              <a:spcAft>
                <a:spcPts val="300"/>
              </a:spcAft>
              <a:defRPr sz="1300">
                <a:solidFill>
                  <a:srgbClr val="595959"/>
                </a:solidFill>
              </a:defRPr>
            </a:pPr>
            <a:r>
              <a:t>All measurements within expected range for Greece</a:t>
            </a:r>
          </a:p>
          <a:p>
            <a:pPr>
              <a:spcBef>
                <a:spcPts val="1000"/>
              </a:spcBef>
              <a:spcAft>
                <a:spcPts val="500"/>
              </a:spcAft>
              <a:defRPr sz="1600" b="1">
                <a:solidFill>
                  <a:srgbClr val="1F4E79"/>
                </a:solidFill>
              </a:defRPr>
            </a:pPr>
            <a:r>
              <a:t>Other Variables</a:t>
            </a:r>
          </a:p>
          <a:p>
            <a:pPr lvl="1">
              <a:spcAft>
                <a:spcPts val="300"/>
              </a:spcAft>
              <a:defRPr sz="1300">
                <a:solidFill>
                  <a:srgbClr val="595959"/>
                </a:solidFill>
              </a:defRPr>
            </a:pPr>
            <a:r>
              <a:t>Precipitation: mean 0.10mm, Wind: 11.32 m/s</a:t>
            </a:r>
          </a:p>
          <a:p>
            <a:pPr lvl="1">
              <a:spcAft>
                <a:spcPts val="300"/>
              </a:spcAft>
              <a:defRPr sz="1300">
                <a:solidFill>
                  <a:srgbClr val="595959"/>
                </a:solidFill>
              </a:defRPr>
            </a:pPr>
            <a:r>
              <a:t>No missing values across complete dataset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6400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
              </a:spcBef>
              <a:spcAft>
                <a:spcPts val="300"/>
              </a:spcAft>
              <a:defRPr sz="3600" b="1">
                <a:solidFill>
                  <a:srgbClr val="FFFFFF"/>
                </a:solidFill>
              </a:defRPr>
            </a:pPr>
            <a:r>
              <a:t>Key Findings and Conclusions</a:t>
            </a:r>
          </a:p>
        </p:txBody>
      </p:sp>
      <p:sp>
        <p:nvSpPr>
          <p:cNvPr id="3" name="TextBox 2"/>
          <p:cNvSpPr txBox="1"/>
          <p:nvPr/>
        </p:nvSpPr>
        <p:spPr>
          <a:xfrm>
            <a:off x="640080" y="914400"/>
            <a:ext cx="7863840" cy="5486400"/>
          </a:xfrm>
          <a:prstGeom prst="rect">
            <a:avLst/>
          </a:prstGeom>
          <a:noFill/>
        </p:spPr>
        <p:txBody>
          <a:bodyPr wrap="square">
            <a:spAutoFit/>
          </a:bodyPr>
          <a:lstStyle/>
          <a:p/>
          <a:p>
            <a:pPr>
              <a:spcBef>
                <a:spcPts val="1000"/>
              </a:spcBef>
              <a:spcAft>
                <a:spcPts val="500"/>
              </a:spcAft>
              <a:defRPr sz="1600" b="1">
                <a:solidFill>
                  <a:srgbClr val="1F4E79"/>
                </a:solidFill>
              </a:defRPr>
            </a:pPr>
            <a:r>
              <a:t>Main Discoveries</a:t>
            </a:r>
          </a:p>
          <a:p>
            <a:pPr lvl="1">
              <a:spcAft>
                <a:spcPts val="300"/>
              </a:spcAft>
              <a:defRPr sz="1300">
                <a:solidFill>
                  <a:srgbClr val="595959"/>
                </a:solidFill>
              </a:defRPr>
            </a:pPr>
            <a:r>
              <a:t>Strong seasonal cycle with June-September concentration</a:t>
            </a:r>
          </a:p>
          <a:p>
            <a:pPr lvl="1">
              <a:spcAft>
                <a:spcPts val="300"/>
              </a:spcAft>
              <a:defRPr sz="1300">
                <a:solidFill>
                  <a:srgbClr val="595959"/>
                </a:solidFill>
              </a:defRPr>
            </a:pPr>
            <a:r>
              <a:t>Year 2023 was exceptional with unprecedented detections</a:t>
            </a:r>
          </a:p>
          <a:p>
            <a:pPr lvl="1">
              <a:spcAft>
                <a:spcPts val="300"/>
              </a:spcAft>
              <a:defRPr sz="1300">
                <a:solidFill>
                  <a:srgbClr val="595959"/>
                </a:solidFill>
              </a:defRPr>
            </a:pPr>
            <a:r>
              <a:t>Geographic concentration in central-eastern Greece</a:t>
            </a:r>
          </a:p>
          <a:p>
            <a:pPr lvl="1">
              <a:spcAft>
                <a:spcPts val="300"/>
              </a:spcAft>
              <a:defRPr sz="1300">
                <a:solidFill>
                  <a:srgbClr val="595959"/>
                </a:solidFill>
              </a:defRPr>
            </a:pPr>
            <a:r>
              <a:t>Multiple meteorological factors influence fire activity</a:t>
            </a:r>
          </a:p>
          <a:p>
            <a:pPr>
              <a:spcBef>
                <a:spcPts val="1000"/>
              </a:spcBef>
              <a:spcAft>
                <a:spcPts val="500"/>
              </a:spcAft>
              <a:defRPr sz="1600" b="1">
                <a:solidFill>
                  <a:srgbClr val="1F4E79"/>
                </a:solidFill>
              </a:defRPr>
            </a:pPr>
            <a:r>
              <a:t>Recommendations</a:t>
            </a:r>
          </a:p>
          <a:p>
            <a:pPr lvl="1">
              <a:spcAft>
                <a:spcPts val="300"/>
              </a:spcAft>
              <a:defRPr sz="1300">
                <a:solidFill>
                  <a:srgbClr val="595959"/>
                </a:solidFill>
              </a:defRPr>
            </a:pPr>
            <a:r>
              <a:t>Intensify monitoring resources during summer months</a:t>
            </a:r>
          </a:p>
          <a:p>
            <a:pPr lvl="1">
              <a:spcAft>
                <a:spcPts val="300"/>
              </a:spcAft>
              <a:defRPr sz="1300">
                <a:solidFill>
                  <a:srgbClr val="595959"/>
                </a:solidFill>
              </a:defRPr>
            </a:pPr>
            <a:r>
              <a:t>Implement automated early warning systems</a:t>
            </a:r>
          </a:p>
          <a:p>
            <a:pPr lvl="1">
              <a:spcAft>
                <a:spcPts val="300"/>
              </a:spcAft>
              <a:defRPr sz="1300">
                <a:solidFill>
                  <a:srgbClr val="595959"/>
                </a:solidFill>
              </a:defRPr>
            </a:pPr>
            <a:r>
              <a:t>Integrate meteorological forecasts for fire risk assessment</a:t>
            </a:r>
          </a:p>
          <a:p>
            <a:pPr lvl="1">
              <a:spcAft>
                <a:spcPts val="300"/>
              </a:spcAft>
              <a:defRPr sz="1300">
                <a:solidFill>
                  <a:srgbClr val="595959"/>
                </a:solidFill>
              </a:defRPr>
            </a:pPr>
            <a:r>
              <a:t>Share data with civil protection authorities for response planning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defRPr sz="5400" b="1">
                <a:solidFill>
                  <a:srgbClr val="FFFFFF"/>
                </a:solidFill>
              </a:defRPr>
            </a:pPr>
            <a:r>
              <a:t>Conclusion</a:t>
            </a:r>
          </a:p>
        </p:txBody>
      </p:sp>
      <p:sp>
        <p:nvSpPr>
          <p:cNvPr id="3" name="TextBox 2"/>
          <p:cNvSpPr txBox="1"/>
          <p:nvPr/>
        </p:nvSpPr>
        <p:spPr>
          <a:xfrm>
            <a:off x="457200" y="3657600"/>
            <a:ext cx="8229600" cy="1828800"/>
          </a:xfrm>
          <a:prstGeom prst="rect">
            <a:avLst/>
          </a:prstGeom>
          <a:noFill/>
        </p:spPr>
        <p:txBody>
          <a:bodyPr wrap="square">
            <a:spAutoFit/>
          </a:bodyPr>
          <a:lstStyle/>
          <a:p>
            <a:pPr>
              <a:defRPr sz="2800">
                <a:solidFill>
                  <a:srgbClr val="4F81BD"/>
                </a:solidFill>
              </a:defRPr>
            </a:pPr>
            <a:r>
              <a:t>Thank you for your attention.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